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3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6D97-9B88-51ED-6610-EF2FAF62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7DD8B-2737-9592-6F30-6F51991BF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95CFF-E31E-B8EF-F963-225923479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67323-F1D2-1FF4-A27C-727E68E717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53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A7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PROJECT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Industrial Maintenance and Process Optimization For Smart Manufacturing 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1188720" cy="0"/>
          </a:xfrm>
          <a:prstGeom prst="line">
            <a:avLst/>
          </a:prstGeom>
          <a:noFill/>
          <a:ln w="31750">
            <a:solidFill>
              <a:srgbClr val="22B8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reactive repairs into predictive, data-driven maintenance.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4772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48132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78892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54772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4728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75488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54772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13248" y="5669280"/>
            <a:ext cx="1307592" cy="0"/>
          </a:xfrm>
          <a:prstGeom prst="line">
            <a:avLst/>
          </a:prstGeom>
          <a:noFill/>
          <a:ln w="15875">
            <a:solidFill>
              <a:srgbClr val="3E556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720840" y="5349240"/>
            <a:ext cx="640080" cy="640080"/>
          </a:xfrm>
          <a:prstGeom prst="ellipse">
            <a:avLst/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547725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46520" y="6035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Data to Predictive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floor with motors, pumps, CNC machines, and conveyors continuously streams sensor data. This system turns that raw data into foresight.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208208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969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health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10728" y="18288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57032" y="201168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441" y="208208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8796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57784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704088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7" y="3115361"/>
            <a:ext cx="362102" cy="3621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35024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34256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480560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969" y="3115361"/>
            <a:ext cx="362102" cy="3621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11496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10728" y="28620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8257032" y="3044952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7441" y="3115361"/>
            <a:ext cx="362102" cy="3621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87968" y="2862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 dashboard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48640" y="4123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Scenario: 10 CNC Machines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548640" y="4471416"/>
            <a:ext cx="5349240" cy="2231136"/>
          </a:xfrm>
          <a:prstGeom prst="roundRect">
            <a:avLst>
              <a:gd name="adj" fmla="val 2869"/>
            </a:avLst>
          </a:prstGeom>
          <a:solidFill>
            <a:srgbClr val="FBEF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822960" y="4599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system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22960" y="4928616"/>
            <a:ext cx="480060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suddenly fails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stops, workers wait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loses money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63640" y="4471416"/>
            <a:ext cx="5349240" cy="2231136"/>
          </a:xfrm>
          <a:prstGeom prst="roundRect">
            <a:avLst>
              <a:gd name="adj" fmla="val 2869"/>
            </a:avLst>
          </a:prstGeom>
          <a:solidFill>
            <a:srgbClr val="E9F6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6537960" y="4599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system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537960" y="4928616"/>
            <a:ext cx="480060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unusual vibration, predicts failure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maintenance team early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during planned downtime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3EC38-7FFA-6BC2-B402-0AC6C52D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4EB767-E1FF-A447-4510-E54A441EA05A}"/>
              </a:ext>
            </a:extLst>
          </p:cNvPr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64FE88-B998-19E1-560E-078A103BB6D8}"/>
              </a:ext>
            </a:extLst>
          </p:cNvPr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1261FC-5644-3C3D-E05E-4D3ED7BA3DE9}"/>
              </a:ext>
            </a:extLst>
          </p:cNvPr>
          <p:cNvSpPr/>
          <p:nvPr/>
        </p:nvSpPr>
        <p:spPr>
          <a:xfrm>
            <a:off x="1293984" y="1265884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082BAE-3338-E60E-24EB-5CD6EBDDDF3A}"/>
              </a:ext>
            </a:extLst>
          </p:cNvPr>
          <p:cNvSpPr/>
          <p:nvPr/>
        </p:nvSpPr>
        <p:spPr>
          <a:xfrm>
            <a:off x="1512492" y="137617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15FAF9E-6D16-655E-2BCC-6C25BE5E6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1523409"/>
            <a:ext cx="219456" cy="21945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DF8BC7B-A603-1FC5-19A1-1BC058043926}"/>
              </a:ext>
            </a:extLst>
          </p:cNvPr>
          <p:cNvSpPr/>
          <p:nvPr/>
        </p:nvSpPr>
        <p:spPr>
          <a:xfrm>
            <a:off x="2116836" y="136880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E138358-3115-2E04-4E7F-3D328CDA27E8}"/>
              </a:ext>
            </a:extLst>
          </p:cNvPr>
          <p:cNvSpPr/>
          <p:nvPr/>
        </p:nvSpPr>
        <p:spPr>
          <a:xfrm>
            <a:off x="2116836" y="16596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Vibration · Pressure · Current · RPM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A558D47-A21D-A01E-751C-F9952A750BF8}"/>
              </a:ext>
            </a:extLst>
          </p:cNvPr>
          <p:cNvSpPr/>
          <p:nvPr/>
        </p:nvSpPr>
        <p:spPr>
          <a:xfrm>
            <a:off x="4945037" y="1963161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4EF0A1B-E68C-D4BC-06F1-D534C92B3DDF}"/>
              </a:ext>
            </a:extLst>
          </p:cNvPr>
          <p:cNvSpPr/>
          <p:nvPr/>
        </p:nvSpPr>
        <p:spPr>
          <a:xfrm>
            <a:off x="1339596" y="2165075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D4ABD6-F067-78F0-A3E1-BCBAFBE6D2D3}"/>
              </a:ext>
            </a:extLst>
          </p:cNvPr>
          <p:cNvSpPr/>
          <p:nvPr/>
        </p:nvSpPr>
        <p:spPr>
          <a:xfrm>
            <a:off x="1512492" y="2285720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6B64ED23-5D36-8CFB-4625-5CCBA02C5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220" y="2346929"/>
            <a:ext cx="219456" cy="219456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9B337384-6A22-7F26-499E-915EC0FBBC4A}"/>
              </a:ext>
            </a:extLst>
          </p:cNvPr>
          <p:cNvSpPr/>
          <p:nvPr/>
        </p:nvSpPr>
        <p:spPr>
          <a:xfrm>
            <a:off x="2107692" y="224634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Storage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FB84EB-872D-D0D0-685D-CF9FDB430BD0}"/>
              </a:ext>
            </a:extLst>
          </p:cNvPr>
          <p:cNvSpPr/>
          <p:nvPr/>
        </p:nvSpPr>
        <p:spPr>
          <a:xfrm>
            <a:off x="2116836" y="252103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and stores continuous machine streams</a:t>
            </a:r>
            <a:endParaRPr lang="en-US" sz="10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1B30D1E-B383-1A5E-C0AB-7BB13786F948}"/>
              </a:ext>
            </a:extLst>
          </p:cNvPr>
          <p:cNvSpPr/>
          <p:nvPr/>
        </p:nvSpPr>
        <p:spPr>
          <a:xfrm>
            <a:off x="4945037" y="2858993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869431-5530-214B-5A70-AD332F46CAB8}"/>
              </a:ext>
            </a:extLst>
          </p:cNvPr>
          <p:cNvSpPr/>
          <p:nvPr/>
        </p:nvSpPr>
        <p:spPr>
          <a:xfrm>
            <a:off x="1339596" y="3051017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8B45228-3DF5-97BC-F00F-FB5C51183EB5}"/>
              </a:ext>
            </a:extLst>
          </p:cNvPr>
          <p:cNvSpPr/>
          <p:nvPr/>
        </p:nvSpPr>
        <p:spPr>
          <a:xfrm>
            <a:off x="1504188" y="3172781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44DFEF77-5B03-A174-6FF5-E1006D409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916" y="3300984"/>
            <a:ext cx="219456" cy="219456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1579AAD9-FEA2-2DAA-777A-CEEFFC9AE5FF}"/>
              </a:ext>
            </a:extLst>
          </p:cNvPr>
          <p:cNvSpPr/>
          <p:nvPr/>
        </p:nvSpPr>
        <p:spPr>
          <a:xfrm>
            <a:off x="2107692" y="311605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F765C91-4F9F-3B22-0649-A1383839412C}"/>
              </a:ext>
            </a:extLst>
          </p:cNvPr>
          <p:cNvSpPr/>
          <p:nvPr/>
        </p:nvSpPr>
        <p:spPr>
          <a:xfrm>
            <a:off x="2107692" y="3344651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scales, and engineer features</a:t>
            </a:r>
            <a:endParaRPr lang="en-US" sz="10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0084300-3245-6A99-6686-ED4286D9D899}"/>
              </a:ext>
            </a:extLst>
          </p:cNvPr>
          <p:cNvSpPr/>
          <p:nvPr/>
        </p:nvSpPr>
        <p:spPr>
          <a:xfrm>
            <a:off x="4927962" y="374633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BBF11833-8A3D-CC8B-C6FA-EE75DB517CC2}"/>
              </a:ext>
            </a:extLst>
          </p:cNvPr>
          <p:cNvSpPr/>
          <p:nvPr/>
        </p:nvSpPr>
        <p:spPr>
          <a:xfrm>
            <a:off x="1339596" y="3950581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49B6B3C-B5A8-DDE0-7188-DE0988BB777B}"/>
              </a:ext>
            </a:extLst>
          </p:cNvPr>
          <p:cNvSpPr/>
          <p:nvPr/>
        </p:nvSpPr>
        <p:spPr>
          <a:xfrm>
            <a:off x="1512492" y="408662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4D4EBBA5-72CA-0FBD-08E1-76F8D64A6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3916" y="4196350"/>
            <a:ext cx="219456" cy="21945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34E2E3C6-F302-CF23-2CA9-1460AEA3E7F8}"/>
              </a:ext>
            </a:extLst>
          </p:cNvPr>
          <p:cNvSpPr/>
          <p:nvPr/>
        </p:nvSpPr>
        <p:spPr>
          <a:xfrm>
            <a:off x="2116836" y="395944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F04FA59-C12B-3872-98A5-49A0EC9B106E}"/>
              </a:ext>
            </a:extLst>
          </p:cNvPr>
          <p:cNvSpPr/>
          <p:nvPr/>
        </p:nvSpPr>
        <p:spPr>
          <a:xfrm>
            <a:off x="2116836" y="4212305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historical behavior</a:t>
            </a:r>
            <a:endParaRPr lang="en-US" sz="10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202298B3-AF22-7BCD-90B8-EF6C7E504358}"/>
              </a:ext>
            </a:extLst>
          </p:cNvPr>
          <p:cNvSpPr/>
          <p:nvPr/>
        </p:nvSpPr>
        <p:spPr>
          <a:xfrm>
            <a:off x="882396" y="4795935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40A0F39-6DBD-A3D9-040F-B412CFE4B212}"/>
              </a:ext>
            </a:extLst>
          </p:cNvPr>
          <p:cNvSpPr/>
          <p:nvPr/>
        </p:nvSpPr>
        <p:spPr>
          <a:xfrm>
            <a:off x="916593" y="479593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13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CD2F0BD-44CC-D663-E0BC-5313FF6E1A90}"/>
              </a:ext>
            </a:extLst>
          </p:cNvPr>
          <p:cNvSpPr/>
          <p:nvPr/>
        </p:nvSpPr>
        <p:spPr>
          <a:xfrm>
            <a:off x="5934643" y="4780445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B5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56ABDA9A-588C-42F7-6F80-564416F92E86}"/>
              </a:ext>
            </a:extLst>
          </p:cNvPr>
          <p:cNvSpPr/>
          <p:nvPr/>
        </p:nvSpPr>
        <p:spPr>
          <a:xfrm>
            <a:off x="5957316" y="478044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51E21DB-6B7E-4D06-C6F7-52B7CCA3D092}"/>
              </a:ext>
            </a:extLst>
          </p:cNvPr>
          <p:cNvSpPr/>
          <p:nvPr/>
        </p:nvSpPr>
        <p:spPr>
          <a:xfrm>
            <a:off x="4907155" y="5416233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D5D21579-7C41-8304-3E46-024C9ED89CCE}"/>
              </a:ext>
            </a:extLst>
          </p:cNvPr>
          <p:cNvSpPr/>
          <p:nvPr/>
        </p:nvSpPr>
        <p:spPr>
          <a:xfrm>
            <a:off x="1339596" y="5614416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FE5B825-1D43-AC5E-930E-00532EE5B831}"/>
              </a:ext>
            </a:extLst>
          </p:cNvPr>
          <p:cNvSpPr/>
          <p:nvPr/>
        </p:nvSpPr>
        <p:spPr>
          <a:xfrm>
            <a:off x="1339596" y="561441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 Engine</a:t>
            </a:r>
            <a:endParaRPr lang="en-US" sz="135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7FFD5C9-4146-6A73-53DE-26A8EC8E29D0}"/>
              </a:ext>
            </a:extLst>
          </p:cNvPr>
          <p:cNvSpPr/>
          <p:nvPr/>
        </p:nvSpPr>
        <p:spPr>
          <a:xfrm>
            <a:off x="4995780" y="6105207"/>
            <a:ext cx="138684" cy="226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AEE492FE-A858-68C9-7B6A-1981244F0509}"/>
              </a:ext>
            </a:extLst>
          </p:cNvPr>
          <p:cNvSpPr/>
          <p:nvPr/>
        </p:nvSpPr>
        <p:spPr>
          <a:xfrm>
            <a:off x="1339596" y="6272784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746EB5A1-B770-C1F9-8FAA-551B2D129731}"/>
              </a:ext>
            </a:extLst>
          </p:cNvPr>
          <p:cNvSpPr/>
          <p:nvPr/>
        </p:nvSpPr>
        <p:spPr>
          <a:xfrm>
            <a:off x="1339596" y="627278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Maintenance Alerts</a:t>
            </a:r>
            <a:endParaRPr lang="en-US" sz="135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154B50AC-B7E5-EBE1-5D74-05323DF45012}"/>
              </a:ext>
            </a:extLst>
          </p:cNvPr>
          <p:cNvSpPr/>
          <p:nvPr/>
        </p:nvSpPr>
        <p:spPr>
          <a:xfrm>
            <a:off x="65314" y="6662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5C336906-671B-2030-9513-24270878C73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5BADAF8D-DDA7-6575-941F-04DE35508879}"/>
              </a:ext>
            </a:extLst>
          </p:cNvPr>
          <p:cNvSpPr/>
          <p:nvPr/>
        </p:nvSpPr>
        <p:spPr>
          <a:xfrm>
            <a:off x="2272377" y="5433960"/>
            <a:ext cx="566928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348B682B-26C4-89D2-3635-609CAF254E9C}"/>
              </a:ext>
            </a:extLst>
          </p:cNvPr>
          <p:cNvSpPr/>
          <p:nvPr/>
        </p:nvSpPr>
        <p:spPr>
          <a:xfrm>
            <a:off x="7927661" y="5287844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B0FA0450-A722-B787-0D5C-C90BFCCEE4C4}"/>
              </a:ext>
            </a:extLst>
          </p:cNvPr>
          <p:cNvSpPr/>
          <p:nvPr/>
        </p:nvSpPr>
        <p:spPr>
          <a:xfrm>
            <a:off x="2272377" y="5287844"/>
            <a:ext cx="0" cy="164592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424818-142D-1BC5-55EE-5D482F8198DA}"/>
              </a:ext>
            </a:extLst>
          </p:cNvPr>
          <p:cNvSpPr txBox="1"/>
          <p:nvPr/>
        </p:nvSpPr>
        <p:spPr>
          <a:xfrm>
            <a:off x="3981839" y="4597565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34FDE6-3695-506A-D786-47D23E8EE111}"/>
              </a:ext>
            </a:extLst>
          </p:cNvPr>
          <p:cNvSpPr txBox="1"/>
          <p:nvPr/>
        </p:nvSpPr>
        <p:spPr>
          <a:xfrm>
            <a:off x="-140238" y="4613249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B8B0"/>
                </a:solidFill>
              </a:rPr>
              <a:t>▼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0285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01–03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Foundation: Acquisition, Storage &amp; Preprocessing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985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8872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78°C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85292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0985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328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mm/s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93776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04748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0985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57784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13232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24204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20985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77240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psi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326880" y="178308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9436608" y="20345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209854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66960" y="18928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96696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1500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0128"/>
          <a:ext cx="6217920" cy="932688"/>
        </p:xfrm>
        <a:graphic>
          <a:graphicData uri="http://schemas.openxmlformats.org/drawingml/2006/table">
            <a:tbl>
              <a:tblPr/>
              <a:tblGrid>
                <a:gridCol w="124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 24"/>
          <p:cNvSpPr/>
          <p:nvPr/>
        </p:nvSpPr>
        <p:spPr>
          <a:xfrm>
            <a:off x="7086600" y="1417320"/>
            <a:ext cx="4553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086600" y="1783080"/>
            <a:ext cx="4553712" cy="2148840"/>
          </a:xfrm>
          <a:prstGeom prst="roundRect">
            <a:avLst>
              <a:gd name="adj" fmla="val 2979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7360920" y="1920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7360920" y="2221992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/ outliers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360920" y="3017520"/>
            <a:ext cx="4005072" cy="0"/>
          </a:xfrm>
          <a:prstGeom prst="line">
            <a:avLst/>
          </a:prstGeom>
          <a:noFill/>
          <a:ln w="12700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7360920" y="31089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tasks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7360920" y="3383280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data, remove duplicates, scale values, and engineer useful features.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yet? Use a public predictive-maintenance dataset or simulate sensor readings.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— The Brain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Vibration · Pressure · Torque · RPM · Tool wear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4630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623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39512" y="1645920"/>
            <a:ext cx="585216" cy="5852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442" y="1727850"/>
            <a:ext cx="421356" cy="4213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2304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4340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historical data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0" y="14630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45236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Likely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9476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0372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Algorithms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58368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it?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train and explain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for tabular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time-series sensor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unusual behavior (anomalies)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452360" y="39319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680960" y="41148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1788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choice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680960" y="4572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final-year project, Random Forest or XGBoost gives the best balance of accuracy and explainability.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05–07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in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8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4800600" cy="164592"/>
          </a:xfrm>
          <a:prstGeom prst="roundRect">
            <a:avLst>
              <a:gd name="adj" fmla="val 50000"/>
            </a:avLst>
          </a:prstGeom>
          <a:solidFill>
            <a:srgbClr val="E3EC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27A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581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BE2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37960" y="1965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83880" y="16184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 · 91%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83880" y="18562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37960" y="2816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Bearing Wear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090672"/>
            <a:ext cx="4800600" cy="164592"/>
          </a:xfrm>
          <a:prstGeom prst="roundRect">
            <a:avLst>
              <a:gd name="adj" fmla="val 50000"/>
            </a:avLst>
          </a:prstGeom>
          <a:solidFill>
            <a:srgbClr val="F3D9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3090672"/>
            <a:ext cx="4368546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flagged even before a formal failure prediction: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69664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43584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vibration spikes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34256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462272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169664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20056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temperature rise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10728" y="4023360"/>
            <a:ext cx="3520440" cy="621792"/>
          </a:xfrm>
          <a:prstGeom prst="roundRect">
            <a:avLst>
              <a:gd name="adj" fmla="val 8824"/>
            </a:avLst>
          </a:prstGeom>
          <a:solidFill>
            <a:srgbClr val="FFF4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8238744" y="4105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169664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96528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current change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48640" y="4919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Recommendations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9512"/>
          <a:ext cx="10515600" cy="98755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 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bearing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cooling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08–09 ·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Intelligence, Dashboard &amp; Outputs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623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46120" y="19476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216712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94%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090672"/>
            <a:ext cx="4572000" cy="164592"/>
          </a:xfrm>
          <a:prstGeom prst="roundRect">
            <a:avLst>
              <a:gd name="adj" fmla="val 50000"/>
            </a:avLst>
          </a:prstGeom>
          <a:solidFill>
            <a:srgbClr val="2A41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4297680" cy="16459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17336" y="16459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709928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75120" y="1417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charts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06840" y="141732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134856" y="16459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70992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92640" y="1417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89320" y="251460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6117336" y="2743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80720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2514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06840" y="251460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134856" y="2743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8072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92640" y="2514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051560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5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4"/>
          <p:cNvSpPr/>
          <p:nvPr/>
        </p:nvSpPr>
        <p:spPr>
          <a:xfrm>
            <a:off x="54864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M103 (Critical) triggers a high-priority alert: inspect and replace the bearing at the next planned window.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5A70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08870" y="4389120"/>
            <a:ext cx="4572000" cy="457200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Value, Roadmap &amp; Next Steps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79476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08" y="169822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08860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980944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392" y="169822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2012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238244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910328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776" y="169822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11396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67628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839712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160" y="1698224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40780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097012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8769096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544" y="1698224"/>
            <a:ext cx="316017" cy="31601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70164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Know-how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10026396" y="15087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10698480" y="163677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9928" y="1698224"/>
            <a:ext cx="316017" cy="3160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99548" y="2130552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548640" y="2971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of </a:t>
            </a:r>
            <a:r>
              <a:rPr lang="en-US" sz="1350" b="1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548640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640080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Exploration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101340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3422904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3514344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975604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297168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E3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6388608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849868" y="36530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B8B0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9171432" y="33375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9262872" y="3337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12700">
            <a:solidFill>
              <a:srgbClr val="2A41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0" y="4754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4" name="Text 36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AI reduces downtime and improves industrial decision-making.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0FDA30-FB3D-477D-5ABA-78B15B9502E9}"/>
              </a:ext>
            </a:extLst>
          </p:cNvPr>
          <p:cNvSpPr txBox="1"/>
          <p:nvPr/>
        </p:nvSpPr>
        <p:spPr>
          <a:xfrm>
            <a:off x="1667828" y="6353740"/>
            <a:ext cx="8139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89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• Thamma Pavani •  Natakarini Nirupa • Neelima kesankurthi  • Nagaroopini D • Priyanka H C  • Mahesh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613</Words>
  <Application>Microsoft Office PowerPoint</Application>
  <PresentationFormat>Widescreen</PresentationFormat>
  <Paragraphs>207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Predictive Maintenance and Process Intelligence System</dc:title>
  <dc:subject>PptxGenJS Presentation</dc:subject>
  <dc:creator>Pavani</dc:creator>
  <cp:lastModifiedBy>Dhanush H C</cp:lastModifiedBy>
  <cp:revision>10</cp:revision>
  <dcterms:created xsi:type="dcterms:W3CDTF">2026-07-08T00:30:50Z</dcterms:created>
  <dcterms:modified xsi:type="dcterms:W3CDTF">2026-08-21T14:37:02Z</dcterms:modified>
</cp:coreProperties>
</file>