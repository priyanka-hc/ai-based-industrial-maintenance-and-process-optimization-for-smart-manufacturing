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F1-4716-BDCD-086647FAE8BC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F1-4716-BDCD-086647FAE8BC}"/>
              </c:ext>
            </c:extLst>
          </c:dPt>
          <c:dPt>
            <c:idx val="2"/>
            <c:invertIfNegative val="0"/>
            <c:bubble3D val="0"/>
            <c:spPr>
              <a:solidFill>
                <a:srgbClr val="3E8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F1-4716-BDCD-086647FAE8BC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0.97199999999999998</c:v>
                </c:pt>
                <c:pt idx="1">
                  <c:v>0.98199999999999998</c:v>
                </c:pt>
                <c:pt idx="2">
                  <c:v>0.98099999999999998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F1-4716-BDCD-086647FAE8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9525" cap="flat">
              <a:solidFill>
                <a:srgbClr val="E4E9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721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pic>
        <p:nvPicPr>
          <p:cNvPr id="4" name="Image 0" descr="icons/gear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359429"/>
            <a:ext cx="1059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0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Industrial Maintenance and Process Optimization For Smart Manufacturing </a:t>
            </a:r>
            <a:endParaRPr lang="en-US" sz="4000" dirty="0"/>
          </a:p>
          <a:p>
            <a:pPr marL="0" indent="0">
              <a:lnSpc>
                <a:spcPts val="5000"/>
              </a:lnSpc>
              <a:buNone/>
            </a:pP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617720"/>
            <a:ext cx="160934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6177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33472" y="4617720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461772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 Dataset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68112" y="4617720"/>
            <a:ext cx="532180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461772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Machine Learning + Groq AI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Unplanned Downtime Is Expensive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10896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novi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21305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maintenance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are fixed only after they fail — production stops without warning.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94944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icon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1305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 downtime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63440" y="3337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stoppages disrupt output, delay orders, and raise repair costs.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29600" y="17373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50392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78992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icons/erro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8792" y="213055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392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early warning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503920" y="3337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have no visibility into failure risk before it happens.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pic>
        <p:nvPicPr>
          <p:cNvPr id="23" name="Image 3" descr="icons/bolt_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46811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5257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failure risk from live sensor data, before it happens.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 Data to Actionable Risk Scores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587752" y="24871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88136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oll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31343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918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7947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3913632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 dataset: 10,000 machine readings, 14 columns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09744" y="24871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10128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clea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313432"/>
            <a:ext cx="585216" cy="585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0632" y="32918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2770632" y="37947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</p:spPr>
      </p:sp>
      <p:sp>
        <p:nvSpPr>
          <p:cNvPr id="15" name="Text 11"/>
          <p:cNvSpPr/>
          <p:nvPr/>
        </p:nvSpPr>
        <p:spPr>
          <a:xfrm>
            <a:off x="2935224" y="3913632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 machine type, scale features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031736" y="24871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532120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/t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313432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92624" y="32918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4992624" y="37947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</p:spPr>
      </p:sp>
      <p:sp>
        <p:nvSpPr>
          <p:cNvPr id="21" name="Text 16"/>
          <p:cNvSpPr/>
          <p:nvPr/>
        </p:nvSpPr>
        <p:spPr>
          <a:xfrm>
            <a:off x="5157216" y="3913632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Random Forest, XGBoost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9253728" y="24871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754112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icons/deplo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2313432"/>
            <a:ext cx="585216" cy="585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14616" y="32918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7214616" y="37947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</p:spPr>
      </p:sp>
      <p:sp>
        <p:nvSpPr>
          <p:cNvPr id="27" name="Text 21"/>
          <p:cNvSpPr/>
          <p:nvPr/>
        </p:nvSpPr>
        <p:spPr>
          <a:xfrm>
            <a:off x="7379208" y="3913632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with a 10-machine digital twin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9976104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4" descr="icons/assis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6416" y="2313432"/>
            <a:ext cx="585216" cy="5852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436608" y="32918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9436608" y="3794760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</p:spPr>
      </p:sp>
      <p:sp>
        <p:nvSpPr>
          <p:cNvPr id="32" name="Text 25"/>
          <p:cNvSpPr/>
          <p:nvPr/>
        </p:nvSpPr>
        <p:spPr>
          <a:xfrm>
            <a:off x="9601200" y="3913632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AI assistant answers maintenance questions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AI4I 2020 Predictive Maintenance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184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184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184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(339 events)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184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644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used</a:t>
            </a:r>
            <a:endParaRPr lang="en-US" sz="1700" dirty="0"/>
          </a:p>
        </p:txBody>
      </p:sp>
      <p:pic>
        <p:nvPicPr>
          <p:cNvPr id="18" name="Image 0" descr="icons/factory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94760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34440" y="37764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Type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/ Medium / High)</a:t>
            </a:r>
            <a:endParaRPr lang="en-US" sz="1300" dirty="0"/>
          </a:p>
        </p:txBody>
      </p:sp>
      <p:pic>
        <p:nvPicPr>
          <p:cNvPr id="20" name="Image 1" descr="icons/thermo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33672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34440" y="42153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&amp; Process Temperature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(Kelvin)</a:t>
            </a:r>
            <a:endParaRPr lang="en-US" sz="1300" dirty="0"/>
          </a:p>
        </p:txBody>
      </p:sp>
      <p:pic>
        <p:nvPicPr>
          <p:cNvPr id="22" name="Image 2" descr="icons/spee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72584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34440" y="46542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(rpm)</a:t>
            </a:r>
            <a:endParaRPr lang="en-US" sz="1300" dirty="0"/>
          </a:p>
        </p:txBody>
      </p:sp>
      <p:pic>
        <p:nvPicPr>
          <p:cNvPr id="24" name="Image 3" descr="icons/component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1149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50932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(Nm)</a:t>
            </a:r>
            <a:endParaRPr lang="en-US" sz="1300" dirty="0"/>
          </a:p>
        </p:txBody>
      </p:sp>
      <p:pic>
        <p:nvPicPr>
          <p:cNvPr id="26" name="Image 4" descr="icons/timer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55040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55321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(minutes)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263640" y="306324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4F7FA"/>
          </a:solidFill>
          <a:ln/>
        </p:spPr>
      </p:sp>
      <p:sp>
        <p:nvSpPr>
          <p:cNvPr id="29" name="Text 22"/>
          <p:cNvSpPr/>
          <p:nvPr/>
        </p:nvSpPr>
        <p:spPr>
          <a:xfrm>
            <a:off x="6537960" y="32644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steps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6537960" y="38404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4"/>
          <p:cNvSpPr/>
          <p:nvPr/>
        </p:nvSpPr>
        <p:spPr>
          <a:xfrm>
            <a:off x="653796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040880" y="38130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ID columns (UDI, Product ID)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537960" y="43891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27"/>
          <p:cNvSpPr/>
          <p:nvPr/>
        </p:nvSpPr>
        <p:spPr>
          <a:xfrm>
            <a:off x="653796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040880" y="43616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machine Type as L=0 / M=1 / H=2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6537960" y="49377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30"/>
          <p:cNvSpPr/>
          <p:nvPr/>
        </p:nvSpPr>
        <p:spPr>
          <a:xfrm>
            <a:off x="653796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040880" y="49103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Standard-scaled all numeric features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6537960" y="54864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3"/>
          <p:cNvSpPr/>
          <p:nvPr/>
        </p:nvSpPr>
        <p:spPr>
          <a:xfrm>
            <a:off x="653796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7040880" y="54589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(random_state=42)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Three Classification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by Model  (sample — replace with your printed results)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41732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F4F7FA"/>
          </a:solidFill>
          <a:ln/>
        </p:spPr>
      </p:sp>
      <p:pic>
        <p:nvPicPr>
          <p:cNvPr id="7" name="Image 0" descr="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162763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0" y="16276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selection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936992" y="2103120"/>
            <a:ext cx="3465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script fits all three models and automatically picks whichever scores highest test accuracy — no manual tuning needed.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680960" y="388620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pic>
        <p:nvPicPr>
          <p:cNvPr id="11" name="Image 1" descr="icons/storage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409651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58200" y="4096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artifacts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936992" y="4572000"/>
            <a:ext cx="3465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saved_models/model.pkl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saved_models/scaler.pkl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7936992" y="5166360"/>
            <a:ext cx="3465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saved with joblib so the dashboard can load a trained model instantly, without retraining on every run.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47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dashboard/app.py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dataset/ai4i2020.csv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utils/preprocessing.py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models/train_model.py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saved_models/model.pkl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saved_models/scaler.pkl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notebooks/eda.py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 (GROQ_API_KEY)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317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85432" y="2221992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/ scikit-learn  —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 model training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8620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t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535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85432" y="2843784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—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comparison model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34838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icons/dash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5753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85432" y="3465576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—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framework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63640" y="41056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19709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85432" y="4087368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 —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visualizations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47274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icons/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81888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85432" y="4709160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(llama-3.3-70b)  —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maintenance assistant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63640" y="5349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5" descr="icons/stora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544068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85432" y="5330952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 —  </a:t>
            </a: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model/scaler persistence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Tabs, One Live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93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dash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0391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37944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Digital Twin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0" y="1837944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10-machine fleet as color-coded risk cards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679192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8254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93522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34056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Performance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86400" y="2734056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stats, failure breakdown, feature importance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575304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4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7216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factor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8313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30168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Intelligence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486400" y="3630168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trends + upload your own CSV to analyze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471416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72744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526280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486400" y="4526280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chat grounded in the live fleet state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367528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F4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55138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grou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62356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422392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&amp; Team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486400" y="5422392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solution, and how it works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 — Fleet Health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64592" cy="164592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57400" y="1536192"/>
            <a:ext cx="164592" cy="164592"/>
          </a:xfrm>
          <a:prstGeom prst="ellipse">
            <a:avLst/>
          </a:prstGeom>
          <a:solidFill>
            <a:srgbClr val="C9761B"/>
          </a:solidFill>
          <a:ln/>
        </p:spPr>
      </p:sp>
      <p:sp>
        <p:nvSpPr>
          <p:cNvPr id="7" name="Text 5"/>
          <p:cNvSpPr/>
          <p:nvPr/>
        </p:nvSpPr>
        <p:spPr>
          <a:xfrm>
            <a:off x="2295144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1536192"/>
            <a:ext cx="164592" cy="164592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9" name="Text 7"/>
          <p:cNvSpPr/>
          <p:nvPr/>
        </p:nvSpPr>
        <p:spPr>
          <a:xfrm>
            <a:off x="3803904" y="1463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9050">
            <a:solidFill>
              <a:srgbClr val="1E8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Failure Risk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37560" y="20574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9050">
            <a:solidFill>
              <a:srgbClr val="C97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M-02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20440" y="265176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C9761B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3200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3474720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Failure Risk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20574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M-03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265176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B23A3A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3200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6263640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Failure Risk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15400" y="20574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9050">
            <a:solidFill>
              <a:srgbClr val="1E8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M-04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098280" y="265176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28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15400" y="32004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9052560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Failure Risk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is driven by the real trained model — risk % updates live as sensor readings change, with automatic HEALTHY / WARNING / CRITICAL classification and an alert banner for any machine above 70% risk.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Maintenance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(llama-3.3-70b-versatile)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09360" cy="4480560"/>
          </a:xfrm>
          <a:prstGeom prst="roundRect">
            <a:avLst>
              <a:gd name="adj" fmla="val 2041"/>
            </a:avLst>
          </a:prstGeom>
          <a:solidFill>
            <a:srgbClr val="F4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57607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57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machine health, failure risk, or maintenance advice…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127248"/>
            <a:ext cx="4206240" cy="594360"/>
          </a:xfrm>
          <a:prstGeom prst="roundRect">
            <a:avLst>
              <a:gd name="adj" fmla="val 18462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272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 needs attention right now?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270248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27024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M-03 is at 92% failure risk — high torque and tool wear. Recommend an immediate inspection and bearing check.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23760" y="1783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pic>
        <p:nvPicPr>
          <p:cNvPr id="15" name="Image 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37744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35240" y="2331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live fleet snapshot, not generic answers</a:t>
            </a:r>
            <a:endParaRPr lang="en-US" sz="1350" dirty="0"/>
          </a:p>
        </p:txBody>
      </p:sp>
      <p:pic>
        <p:nvPicPr>
          <p:cNvPr id="17" name="Image 1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1546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35240" y="3108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Q&amp;A for operators without ML training</a:t>
            </a:r>
            <a:endParaRPr lang="en-US" sz="1350" dirty="0"/>
          </a:p>
        </p:txBody>
      </p:sp>
      <p:pic>
        <p:nvPicPr>
          <p:cNvPr id="19" name="Image 2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9319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35240" y="3886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official Groq Python SDK</a:t>
            </a:r>
            <a:endParaRPr lang="en-US" sz="1350" dirty="0"/>
          </a:p>
        </p:txBody>
      </p:sp>
      <p:pic>
        <p:nvPicPr>
          <p:cNvPr id="21" name="Image 3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7091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663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loaded securely from a local .env file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7FA"/>
          </a:solidFill>
          <a:ln/>
        </p:spPr>
      </p:sp>
      <p:pic>
        <p:nvPicPr>
          <p:cNvPr id="5" name="Image 0" descr="icons/warning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391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391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includes failure-mode flags (TWF, HDF, PWF, OSF, RNF) that are only known after a failure has already occurred. Training on them inflates accuracy without adding real predictive power for a live, healthy machine.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AD9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7091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 the model with these flags fixed at zero for live predictions — an honest, if more conservative, approach.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pic>
        <p:nvPicPr>
          <p:cNvPr id="11" name="Image 1" descr="icons/rocket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391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0391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pic>
        <p:nvPicPr>
          <p:cNvPr id="13" name="Image 2" descr="icons/check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6974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26243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without the leakage columns for a fully honest live model</a:t>
            </a:r>
            <a:endParaRPr lang="en-US" sz="1300" dirty="0"/>
          </a:p>
        </p:txBody>
      </p:sp>
      <p:pic>
        <p:nvPicPr>
          <p:cNvPr id="15" name="Image 3" descr="icons/check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52044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344728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IoT sensor streams instead of simulated readings</a:t>
            </a:r>
            <a:endParaRPr lang="en-US" sz="1300" dirty="0"/>
          </a:p>
        </p:txBody>
      </p:sp>
      <p:pic>
        <p:nvPicPr>
          <p:cNvPr id="17" name="Image 4" descr="icons/check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34340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9440" y="42702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historical trend tracking per machine over time</a:t>
            </a:r>
            <a:endParaRPr lang="en-US" sz="1300" dirty="0"/>
          </a:p>
        </p:txBody>
      </p:sp>
      <p:pic>
        <p:nvPicPr>
          <p:cNvPr id="19" name="Image 5" descr="icons/check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516636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49440" y="50932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the cloud for remote fleet monitoring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11567160" y="64465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943600" cy="59436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158191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523848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 &amp; Process Intelligence — turning raw sensor data into early-warning insight.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32808" y="452628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32808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67160" y="64465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821</Words>
  <Application>Microsoft Office PowerPoint</Application>
  <PresentationFormat>Widescreen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Dhanush H C</cp:lastModifiedBy>
  <cp:revision>4</cp:revision>
  <dcterms:created xsi:type="dcterms:W3CDTF">2026-08-06T06:55:02Z</dcterms:created>
  <dcterms:modified xsi:type="dcterms:W3CDTF">2026-08-21T14:40:21Z</dcterms:modified>
</cp:coreProperties>
</file>