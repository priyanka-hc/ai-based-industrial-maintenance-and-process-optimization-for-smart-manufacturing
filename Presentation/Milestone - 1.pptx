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9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B6-4BF8-A0E5-B077DC23B269}"/>
              </c:ext>
            </c:extLst>
          </c:dPt>
          <c:dPt>
            <c:idx val="1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B6-4BF8-A0E5-B077DC23B269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B6-4BF8-A0E5-B077DC23B26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B6-4BF8-A0E5-B077DC23B26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B6-4BF8-A0E5-B077DC23B26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B6-4BF8-A0E5-B077DC23B26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Warning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22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B6-4BF8-A0E5-B077DC23B2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5F8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0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•  PROJECT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Industrial Maintenance and Process Optimization For Smart Manufacturing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4846320" cy="0"/>
          </a:xfrm>
          <a:prstGeom prst="line">
            <a:avLst/>
          </a:prstGeom>
          <a:noFill/>
          <a:ln w="12700">
            <a:solidFill>
              <a:srgbClr val="3C5A6E"/>
            </a:solidFill>
            <a:prstDash val="solid"/>
          </a:ln>
        </p:spPr>
      </p:sp>
      <p:pic>
        <p:nvPicPr>
          <p:cNvPr id="8" name="Image 0" descr="assets/users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091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4690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6  |  Project not yet completed — this deck presents our approach &amp; plan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Unplanned Downtime is Expensive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factories react to failures — by the time a machine stops, the damage is already done.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REACTIVE MAINTENANCE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5F8F9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7" name="Image 0" descr="asset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9456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suddenly fails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8211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5F8F9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3383280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1" descr="asset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0215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18211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stops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16966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5F8F9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" y="4370832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5" name="Image 2" descr="assets/tool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8970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16966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wait for repairs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15721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5F8F9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5358384"/>
            <a:ext cx="438912" cy="43891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9" name="Image 3" descr="asset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77256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15721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loses money &amp; time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26480" y="17830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0F2A43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49224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 — 10 CNC MACHINES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9224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notices unusual vibration on a bearing.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the bearing may fail within a few days.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is sent to the maintenance team automatically.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bearing is replaced during planned downtime.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continues without interruption.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92240" y="5074920"/>
            <a:ext cx="4800600" cy="0"/>
          </a:xfrm>
          <a:prstGeom prst="line">
            <a:avLst/>
          </a:prstGeom>
          <a:noFill/>
          <a:ln w="12700">
            <a:solidFill>
              <a:srgbClr val="3C5A6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92240" y="5257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beats reactive: fewer surprises, planned repairs, continuous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that watches every machine, predicts failure, and tells the team what to do next.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assets/micro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64992" y="2039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31363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live sensor data from machines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18745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asset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240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95744" y="2039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99432" y="2788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99432" y="31363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each machine's current health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8745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asset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240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26496" y="2039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30184" y="2788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30184" y="31363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possible failures before they occur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9319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asset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9768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64992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868680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868680" y="5193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overall production performance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70832" y="39319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9432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assets/tool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29768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95744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599432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50" dirty="0"/>
          </a:p>
        </p:txBody>
      </p:sp>
      <p:sp>
        <p:nvSpPr>
          <p:cNvPr id="33" name="Text 26"/>
          <p:cNvSpPr/>
          <p:nvPr/>
        </p:nvSpPr>
        <p:spPr>
          <a:xfrm>
            <a:off x="4599432" y="5193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right maintenance action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01584" y="39319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F5F8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30184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assets/clipboar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29768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26496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8330184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50" dirty="0"/>
          </a:p>
        </p:txBody>
      </p:sp>
      <p:sp>
        <p:nvSpPr>
          <p:cNvPr id="39" name="Text 31"/>
          <p:cNvSpPr/>
          <p:nvPr/>
        </p:nvSpPr>
        <p:spPr>
          <a:xfrm>
            <a:off x="8330184" y="5193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all on an interactive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the shop floor sensors up through analysis to the maintenance team's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5" name="Image 0" descr="assets/microchip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— Temperature · Vibration · Pressure · Current · RPM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 rot="10800000">
            <a:off x="6080760" y="2194560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4231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9" name="Image 1" descr="assets/databas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283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423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Layer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 rot="10800000">
            <a:off x="6080760" y="2953512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" y="31546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13" name="Image 2" descr="assets/broom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5983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154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cleaning, scaling, feature engineering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 rot="10800000">
            <a:off x="6080760" y="3685032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38862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17" name="Image 3" descr="assets/brain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9135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886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 rot="10800000">
            <a:off x="3246120" y="4416552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20" name="Shape 14"/>
          <p:cNvSpPr/>
          <p:nvPr/>
        </p:nvSpPr>
        <p:spPr>
          <a:xfrm rot="10800000">
            <a:off x="8915400" y="4416552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0080" y="4617720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22" name="Image 4" descr="assets/warning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365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46177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63640" y="4617720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25" name="Image 5" descr="assets/gauge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73659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93992" y="46177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3246120" y="5166360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915400" y="5166360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246120" y="5330952"/>
            <a:ext cx="566928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 rot="10800000">
            <a:off x="5989320" y="5349240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31" name="Shape 23"/>
          <p:cNvSpPr/>
          <p:nvPr/>
        </p:nvSpPr>
        <p:spPr>
          <a:xfrm>
            <a:off x="640080" y="5559552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16374F"/>
          </a:solidFill>
          <a:ln w="12700">
            <a:solidFill>
              <a:srgbClr val="2C4A5E"/>
            </a:solidFill>
            <a:prstDash val="solid"/>
          </a:ln>
        </p:spPr>
      </p:sp>
      <p:pic>
        <p:nvPicPr>
          <p:cNvPr id="32" name="Image 6" descr="assets/cogs_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64184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70432" y="5559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 Engine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 rot="10800000">
            <a:off x="6080760" y="6035040"/>
            <a:ext cx="182880" cy="201168"/>
          </a:xfrm>
          <a:prstGeom prst="rtTriangle">
            <a:avLst/>
          </a:prstGeom>
          <a:solidFill>
            <a:srgbClr val="E8871E"/>
          </a:solidFill>
          <a:ln/>
        </p:spPr>
      </p:sp>
      <p:sp>
        <p:nvSpPr>
          <p:cNvPr id="35" name="Shape 26"/>
          <p:cNvSpPr/>
          <p:nvPr/>
        </p:nvSpPr>
        <p:spPr>
          <a:xfrm>
            <a:off x="640080" y="6236208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pic>
        <p:nvPicPr>
          <p:cNvPr id="36" name="Image 7" descr="assets/gaug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120" y="6318504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870448" y="62362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Maintenance Alerts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&amp; Machine Learning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996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62556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345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(cleaning, scaling, feature engineering)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5694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32404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1043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67328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6393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Recommendation 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02252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742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 &amp; KPIs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37176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(Streamlit)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ML ALGORITHMS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554480"/>
          <a:ext cx="548640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train and explain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on tabular sensor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time-series sensor sequences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unusual behavior (anomalies)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080760" y="41605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CEFDC"/>
          </a:solidFill>
          <a:ln/>
        </p:spPr>
      </p:sp>
      <p:pic>
        <p:nvPicPr>
          <p:cNvPr id="21" name="Image 0" descr="assets/chec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370832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0840" y="4160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first version, Random Forest or XGBoost is the practical starting choice.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0080" y="5349240"/>
            <a:ext cx="10927080" cy="0"/>
          </a:xfrm>
          <a:prstGeom prst="line">
            <a:avLst/>
          </a:prstGeom>
          <a:noFill/>
          <a:ln w="12700">
            <a:solidFill>
              <a:srgbClr val="E3E8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55321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Inputs: 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Vibration, Pressure, Torque, RPM, Tool Wear     </a:t>
            </a: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Output: </a:t>
            </a: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Failure Likely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Expected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Streamlit dashboard shows machine health, alerts, and factory-wide production KPIs.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OVERVIEW (SAMPLE)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44068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7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79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7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0F2A4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assets/bell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08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425196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Alert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M103 likely to fail within a few days — bearing wear detected.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inspect &amp; replace bearing at next maintenance window.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55080" y="160020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5F8F9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1810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KPIs — TODAY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629400" y="22402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2940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294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321040" y="22402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32104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3210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Units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0012680" y="22402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508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01268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00126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62940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MIX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537960" y="3703320"/>
          <a:ext cx="27432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592" y="46782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Plan — 12 Weeks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14846" y="558832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7686" y="3083790"/>
            <a:ext cx="10543032" cy="0"/>
          </a:xfrm>
          <a:prstGeom prst="line">
            <a:avLst/>
          </a:prstGeom>
          <a:noFill/>
          <a:ln w="25400">
            <a:solidFill>
              <a:srgbClr val="D7DE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102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526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686" y="2306550"/>
            <a:ext cx="0" cy="6766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022" y="107211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462" y="114526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462" y="140129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explore a predictive maintenance dataset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534274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7698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4858" y="3184374"/>
            <a:ext cx="0" cy="2194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894194" y="340383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85634" y="347698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85634" y="373301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&amp; perform exploratory analysis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291446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4870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92030" y="2306550"/>
            <a:ext cx="0" cy="6766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1366" y="107211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2806" y="114526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42806" y="140129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the machine learning model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048618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2042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9202" y="3184374"/>
            <a:ext cx="0" cy="2194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08538" y="340383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99978" y="347698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99978" y="373301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prediction API / integrate model into app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7805790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9214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6374" y="2306550"/>
            <a:ext cx="0" cy="6766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165710" y="107211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57150" y="114526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57150" y="140129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Streamlit dashboard with visualizations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9562962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26386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63546" y="3184374"/>
            <a:ext cx="0" cy="2194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922882" y="340383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014322" y="347698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014322" y="373301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process intelligence KPIs &amp; recommendations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11320134" y="298320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83558" y="24894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420718" y="2306550"/>
            <a:ext cx="0" cy="676656"/>
          </a:xfrm>
          <a:prstGeom prst="line">
            <a:avLst/>
          </a:prstGeom>
          <a:noFill/>
          <a:ln w="15875">
            <a:solidFill>
              <a:srgbClr val="D7DEE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0680054" y="107211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F5F8F9"/>
          </a:solidFill>
          <a:ln/>
          <a:effectLst>
            <a:outerShdw blurRad="508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771494" y="114526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771494" y="1401294"/>
            <a:ext cx="1298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 system; prepare docs &amp; final presentation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000" dirty="0"/>
          </a:p>
        </p:txBody>
      </p:sp>
      <p:pic>
        <p:nvPicPr>
          <p:cNvPr id="4" name="Image 0" descr="assets/brain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4475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62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failure prediction</a:t>
            </a:r>
            <a:endParaRPr lang="en-US" sz="1350" dirty="0"/>
          </a:p>
        </p:txBody>
      </p:sp>
      <p:pic>
        <p:nvPicPr>
          <p:cNvPr id="6" name="Image 1" descr="assets/char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2024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8379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visualization</a:t>
            </a:r>
            <a:endParaRPr lang="en-US" sz="1350" dirty="0"/>
          </a:p>
        </p:txBody>
      </p:sp>
      <p:pic>
        <p:nvPicPr>
          <p:cNvPr id="8" name="Image 2" descr="assets/gaug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9572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50" dirty="0"/>
          </a:p>
        </p:txBody>
      </p:sp>
      <p:pic>
        <p:nvPicPr>
          <p:cNvPr id="10" name="Image 3" descr="assets/database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71216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350" dirty="0"/>
          </a:p>
        </p:txBody>
      </p:sp>
      <p:pic>
        <p:nvPicPr>
          <p:cNvPr id="12" name="Image 4" descr="assets/cogs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46704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2644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maintenance domain knowledge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640080" y="3840480"/>
            <a:ext cx="5074920" cy="0"/>
          </a:xfrm>
          <a:prstGeom prst="line">
            <a:avLst/>
          </a:prstGeom>
          <a:noFill/>
          <a:ln w="12700">
            <a:solidFill>
              <a:srgbClr val="3C5A6E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downtime and helps teams make better, faster maintenance decisions.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126480" y="141732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16374F"/>
          </a:solidFill>
          <a:ln/>
        </p:spPr>
      </p:sp>
      <p:pic>
        <p:nvPicPr>
          <p:cNvPr id="17" name="Image 5" descr="assets/users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164592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— 6 MEMBERS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6400800" y="219456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40080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1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9052560" y="219456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05256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2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400800" y="2953512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400800" y="2953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3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9052560" y="2953512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9052560" y="2953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4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400800" y="3712464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400800" y="37124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5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9052560" y="3712464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F2A43"/>
          </a:solidFill>
          <a:ln w="12700">
            <a:solidFill>
              <a:srgbClr val="2C4A5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052560" y="37124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6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400800" y="4343400"/>
            <a:ext cx="489204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4008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0" y="47548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core modules under development. This presentation covers our design, architecture, and 12-week execution plan.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634</Words>
  <Application>Microsoft Office PowerPoint</Application>
  <PresentationFormat>Widescreen</PresentationFormat>
  <Paragraphs>153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Predictive Maintenance and Process Intelligence System</dc:title>
  <dc:subject>PptxGenJS Presentation</dc:subject>
  <dc:creator>Team - Infosys Springboard</dc:creator>
  <cp:lastModifiedBy>Dhanush H C</cp:lastModifiedBy>
  <cp:revision>8</cp:revision>
  <dcterms:created xsi:type="dcterms:W3CDTF">2026-07-07T16:36:30Z</dcterms:created>
  <dcterms:modified xsi:type="dcterms:W3CDTF">2026-08-21T14:43:38Z</dcterms:modified>
</cp:coreProperties>
</file>