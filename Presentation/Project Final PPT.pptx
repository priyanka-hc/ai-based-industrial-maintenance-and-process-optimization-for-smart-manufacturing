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822960"/>
            <a:ext cx="3749039" cy="3749039"/>
          </a:xfrm>
          <a:prstGeom prst="ellipse">
            <a:avLst/>
          </a:prstGeom>
          <a:solidFill>
            <a:srgbClr val="39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394960"/>
            <a:ext cx="1554480" cy="1554480"/>
          </a:xfrm>
          <a:prstGeom prst="ellipse">
            <a:avLst/>
          </a:prstGeom>
          <a:solidFill>
            <a:srgbClr val="39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960FF"/>
                </a:solidFill>
                <a:latin typeface="Aptos"/>
              </a:defRPr>
            </a:pPr>
            <a:r>
              <a:t>INFOSYS SPRINGBOARD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4241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Georgia"/>
              </a:defRPr>
            </a:pPr>
            <a:r>
              <a:t>AI-Based Industrial Maintenance and</a:t>
            </a:r>
            <a:br/>
            <a:r>
              <a:t>Process Optimization for Smart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578608"/>
            <a:ext cx="1371600" cy="45720"/>
          </a:xfrm>
          <a:prstGeom prst="rect">
            <a:avLst/>
          </a:prstGeom>
          <a:solidFill>
            <a:srgbClr val="A9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A960FF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01568"/>
            <a:ext cx="4800600" cy="530352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465576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960FF"/>
                </a:solidFill>
                <a:latin typeface="Aptos"/>
              </a:defRPr>
            </a:pPr>
            <a:r>
              <a:t>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3474720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Thamma Pavani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401568"/>
            <a:ext cx="4800600" cy="530352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3465576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960FF"/>
                </a:solidFill>
                <a:latin typeface="Aptos"/>
              </a:defRPr>
            </a:pPr>
            <a:r>
              <a:t>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3474720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Natakarini Nirupa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14800"/>
            <a:ext cx="4800600" cy="530352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78808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960FF"/>
                </a:solidFill>
                <a:latin typeface="Aptos"/>
              </a:defRPr>
            </a:pPr>
            <a:r>
              <a:t>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4187952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Neelima Kesanakurthi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114800"/>
            <a:ext cx="4800600" cy="530352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4178808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960FF"/>
                </a:solidFill>
                <a:latin typeface="Aptos"/>
              </a:defRPr>
            </a:pPr>
            <a:r>
              <a:t>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4187952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Nagaroopini 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28032"/>
            <a:ext cx="4800600" cy="530352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892040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960FF"/>
                </a:solidFill>
                <a:latin typeface="Aptos"/>
              </a:defRPr>
            </a:pPr>
            <a:r>
              <a:t>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901184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Priyanka H 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828032"/>
            <a:ext cx="4800600" cy="530352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4892040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960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4901184"/>
            <a:ext cx="3611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Mahesh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7044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0">
                <a:solidFill>
                  <a:srgbClr val="BEB7C9"/>
                </a:solidFill>
                <a:latin typeface="Aptos"/>
              </a:defRPr>
            </a:pPr>
            <a:r>
              <a:t>Team abbreviations used as member IDs in the available project material.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From Machine Data to Predictive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system transforms historical machine readings into failure-risk insights and operator-facing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429000" cy="749808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95681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65960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21992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AI4I 2020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749808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195681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965960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221992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Clean + encode +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828800"/>
            <a:ext cx="3429000" cy="749808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195681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08483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965960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221992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Compare 3 classifiers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88920"/>
            <a:ext cx="3429000" cy="749808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04495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926079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182112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Failure-risk probability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788920"/>
            <a:ext cx="3429000" cy="749808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2000" y="291693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04495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2926079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VISUALIZE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182112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Fleet + process analytics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2788920"/>
            <a:ext cx="3429000" cy="749808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66760" y="291693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04495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926079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182112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Groq AI maintenance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977639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PROJECT SCENARIO: 10-MACHINE FLEET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15968"/>
            <a:ext cx="5349240" cy="14173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55371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C13A31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WITHOUT PREDICTION</a:t>
            </a:r>
          </a:p>
        </p:txBody>
      </p:sp>
      <p:sp>
        <p:nvSpPr>
          <p:cNvPr id="40" name="Oval 39"/>
          <p:cNvSpPr/>
          <p:nvPr/>
        </p:nvSpPr>
        <p:spPr>
          <a:xfrm>
            <a:off x="841248" y="4946904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873752"/>
            <a:ext cx="4315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happens before maintenance is planned.</a:t>
            </a:r>
          </a:p>
        </p:txBody>
      </p:sp>
      <p:sp>
        <p:nvSpPr>
          <p:cNvPr id="42" name="Oval 41"/>
          <p:cNvSpPr/>
          <p:nvPr/>
        </p:nvSpPr>
        <p:spPr>
          <a:xfrm>
            <a:off x="841248" y="5312664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239512"/>
            <a:ext cx="4315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Downtime becomes a production problem.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4315968"/>
            <a:ext cx="5440680" cy="14173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553712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WITH THE SYSTEM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4946904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873752"/>
            <a:ext cx="44074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Risk is surfaced before the machine becomes critical.</a:t>
            </a:r>
          </a:p>
        </p:txBody>
      </p:sp>
      <p:sp>
        <p:nvSpPr>
          <p:cNvPr id="48" name="Oval 47"/>
          <p:cNvSpPr/>
          <p:nvPr/>
        </p:nvSpPr>
        <p:spPr>
          <a:xfrm>
            <a:off x="6400800" y="5312664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5239512"/>
            <a:ext cx="44074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Maintenance attention can be prioritized.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The problem is not only failure — it is delayed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project focuses on making machine health easier to observe, predict and act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5257800" cy="40690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480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CORE PROBLEM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651760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578608"/>
            <a:ext cx="4315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Maintenance teams may react after failure symptoms become severe.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10128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236976"/>
            <a:ext cx="4315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Raw sensor readings are difficult to convert into a single risk view.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968496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895344"/>
            <a:ext cx="4315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Different machines need different levels of maintenance attention.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626864"/>
            <a:ext cx="73152" cy="73152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553712"/>
            <a:ext cx="4315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Operators need explanations, not only model probabilities.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394960" cy="40690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057400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542032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70048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532888"/>
            <a:ext cx="11430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3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23744"/>
            <a:ext cx="2880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0" i="0">
                <a:solidFill>
                  <a:srgbClr val="CBD6D9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Estimate failure risk from machine conditions.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291839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41985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82696"/>
            <a:ext cx="11430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3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73551"/>
            <a:ext cx="2880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0" i="0">
                <a:solidFill>
                  <a:srgbClr val="CBD6D9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Show fleet health and critical machines.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404164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169663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032504"/>
            <a:ext cx="11430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3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023360"/>
            <a:ext cx="2880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0" i="0">
                <a:solidFill>
                  <a:srgbClr val="CBD6D9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Expose model and process-level insights.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479145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9194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782312"/>
            <a:ext cx="11430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3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Assist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773168"/>
            <a:ext cx="2880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0" i="0">
                <a:solidFill>
                  <a:srgbClr val="CBD6D9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Provide natural-language maintenance guidance.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End-to-End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 single workflow connects the dataset, preprocessing, machine learning, dashboard and AI assistant.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20240"/>
            <a:ext cx="1938528" cy="19202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2144" y="212140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24942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74320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31546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AI4I 2020</a:t>
            </a:r>
            <a:br/>
            <a:r>
              <a:rPr>
                <a:solidFill>
                  <a:srgbClr val="FFFFFF"/>
                </a:solidFill>
              </a:rPr>
              <a:t>10,000 records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880360"/>
            <a:ext cx="402336" cy="0"/>
          </a:xfrm>
          <a:prstGeom prst="line">
            <a:avLst/>
          </a:prstGeom>
          <a:ln w="1778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79776" y="1920240"/>
            <a:ext cx="1938528" cy="19202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212140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24942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74320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1546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Encode + scale</a:t>
            </a:r>
            <a:br/>
            <a:r>
              <a:rPr>
                <a:solidFill>
                  <a:srgbClr val="FFFFFF"/>
                </a:solidFill>
              </a:rPr>
              <a:t>train/test 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18304" y="2880360"/>
            <a:ext cx="402336" cy="0"/>
          </a:xfrm>
          <a:prstGeom prst="line">
            <a:avLst/>
          </a:prstGeom>
          <a:ln w="1778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0640" y="1920240"/>
            <a:ext cx="1938528" cy="19202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33872" y="212140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224942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274320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31546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LR + RF + XGBoost</a:t>
            </a:r>
            <a:br/>
            <a:r>
              <a:rPr>
                <a:solidFill>
                  <a:srgbClr val="FFFFFF"/>
                </a:solidFill>
              </a:rPr>
              <a:t>compare accuracy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2880360"/>
            <a:ext cx="402336" cy="0"/>
          </a:xfrm>
          <a:prstGeom prst="line">
            <a:avLst/>
          </a:prstGeom>
          <a:ln w="1778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61504" y="1920240"/>
            <a:ext cx="1938528" cy="19202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74736" y="212140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224942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274320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31546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Streamlit</a:t>
            </a:r>
            <a:br/>
            <a:r>
              <a:rPr>
                <a:solidFill>
                  <a:srgbClr val="FFFFFF"/>
                </a:solidFill>
              </a:rPr>
              <a:t>5 functional areas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00032" y="2880360"/>
            <a:ext cx="402336" cy="0"/>
          </a:xfrm>
          <a:prstGeom prst="line">
            <a:avLst/>
          </a:prstGeom>
          <a:ln w="1778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02368" y="1920240"/>
            <a:ext cx="1938528" cy="19202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212140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224942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74320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1546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Groq + Llama 3.3</a:t>
            </a:r>
            <a:br/>
            <a:r>
              <a:rPr>
                <a:solidFill>
                  <a:srgbClr val="FFFFFF"/>
                </a:solidFill>
              </a:rPr>
              <a:t>maintenance chat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4434840"/>
            <a:ext cx="9646920" cy="8686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08760" y="4681728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OUTPUT:  MACHINE HEALTH  •  FAILURE RISK  •  PROCESS TRENDS  •  MAINTENANCE GUIDANCE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AI4I 2020: The 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implementation uses the public predictive-maintenance dataset as the model-training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2468880" cy="10972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128297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59152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91640"/>
            <a:ext cx="2468880" cy="10972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8288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29C7C2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359152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original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91640"/>
            <a:ext cx="2468880" cy="10972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8288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F1A535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339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359152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7" y="1691640"/>
            <a:ext cx="2468880" cy="10972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7" y="18288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268967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80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7" y="2359152"/>
            <a:ext cx="2194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train /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54680"/>
            <a:ext cx="5257800" cy="2148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29000"/>
            <a:ext cx="4480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KEY INPUT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58768"/>
            <a:ext cx="4480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Air temperature</a:t>
            </a:r>
            <a:br/>
            <a:r>
              <a:rPr>
                <a:solidFill>
                  <a:srgbClr val="FFFFFF"/>
                </a:solidFill>
              </a:rPr>
              <a:t>Process temperature</a:t>
            </a:r>
            <a:br/>
            <a:r>
              <a:rPr>
                <a:solidFill>
                  <a:srgbClr val="FFFFFF"/>
                </a:solidFill>
              </a:rPr>
              <a:t>Rotational speed • Torque • Tool wear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154680"/>
            <a:ext cx="5440680" cy="2148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429000"/>
            <a:ext cx="4663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TARGET +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22191"/>
            <a:ext cx="4617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Target: Machine failure</a:t>
            </a:r>
            <a:br/>
            <a:r>
              <a:rPr>
                <a:solidFill>
                  <a:srgbClr val="FFFFFF"/>
                </a:solidFill>
              </a:rPr>
              <a:t>Type encoded as L=0, M=1, H=2</a:t>
            </a:r>
            <a:br/>
            <a:r>
              <a:rPr>
                <a:solidFill>
                  <a:srgbClr val="FFFFFF"/>
                </a:solidFill>
              </a:rPr>
              <a:t>StandardScaler → model-ready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Preparing the Data for Reliable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same feature transformation used during training is reused when the dashboard loads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874519" cy="14173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2728" y="193852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06654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395728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68833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1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UDI + Product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487168"/>
            <a:ext cx="411480" cy="0"/>
          </a:xfrm>
          <a:prstGeom prst="line">
            <a:avLst/>
          </a:prstGeom>
          <a:ln w="1524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783080"/>
            <a:ext cx="1874519" cy="14173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8728" y="193852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06654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2395728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ENCODE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68833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1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Machine Type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27448" y="2487168"/>
            <a:ext cx="411480" cy="0"/>
          </a:xfrm>
          <a:prstGeom prst="line">
            <a:avLst/>
          </a:prstGeom>
          <a:ln w="1524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38928" y="1783080"/>
            <a:ext cx="1874519" cy="14173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24728" y="193852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206654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395728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68833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1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80% train / 20% test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13448" y="2487168"/>
            <a:ext cx="411480" cy="0"/>
          </a:xfrm>
          <a:prstGeom prst="line">
            <a:avLst/>
          </a:prstGeom>
          <a:ln w="1524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24927" y="1783080"/>
            <a:ext cx="1874519" cy="14173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10727" y="193852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7" y="206654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5" y="2395728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5" y="268833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1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StandardScaler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99447" y="2487168"/>
            <a:ext cx="411481" cy="0"/>
          </a:xfrm>
          <a:prstGeom prst="line">
            <a:avLst/>
          </a:prstGeom>
          <a:ln w="1524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10928" y="1783080"/>
            <a:ext cx="1874519" cy="14173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96728" y="193852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96728" y="206654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5" y="2395728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5" y="268833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1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model.pkl + scaler.pkl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749039"/>
            <a:ext cx="10972800" cy="150876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005072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40740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3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 deployed model must receive features in the same order and scale as training. The project persists both the trained model and scaler for reuse by the dashboard.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The ML Layer: Compare, Evaluate, 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Three classifiers are trained on the same prepared feature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246120" cy="2148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969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98424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Linear classification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2606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TRAIN → TEST → COMPARE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37360"/>
            <a:ext cx="3246120" cy="2148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3969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98424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97480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100-tree ensemble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46120"/>
            <a:ext cx="2606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TRAIN → TEST → COMPARE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37360"/>
            <a:ext cx="3246120" cy="2148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201168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13969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198424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19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97480"/>
            <a:ext cx="2697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Gradient-boosted comparison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46120"/>
            <a:ext cx="2606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1A53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TRAIN → TEST → COMPARE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4434840"/>
            <a:ext cx="9829800" cy="8686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4645152"/>
            <a:ext cx="9144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MODEL SELECTION RULE:  HIGHEST TEST ACCURACY  →  SAVE BEST MODEL  →  LOAD IN STREAMLIT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Model Performance: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training script reports 0.9990 test accuracy for each of the three classifiers.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840480" cy="356616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291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 i="0">
                <a:solidFill>
                  <a:srgbClr val="F8F8F5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 i="0">
                <a:solidFill>
                  <a:srgbClr val="C6D2D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0.9990 on the current test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" y="4160520"/>
            <a:ext cx="2331720" cy="310896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4169663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ALL 3 MODELS: 0.999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691640"/>
            <a:ext cx="6858000" cy="356616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965960"/>
            <a:ext cx="6126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14600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560320"/>
            <a:ext cx="2971800" cy="16459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560320"/>
            <a:ext cx="2971800" cy="16459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0" y="249631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99.9%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2783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3273552"/>
            <a:ext cx="2971800" cy="16459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3273552"/>
            <a:ext cx="2971800" cy="16459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3209544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99.9%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941064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3986784"/>
            <a:ext cx="2971800" cy="16459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3986784"/>
            <a:ext cx="2971800" cy="16459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52760" y="392277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 i="0">
                <a:solidFill>
                  <a:srgbClr val="F1A53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99.9%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72000"/>
            <a:ext cx="6035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19" b="1" i="0">
                <a:solidFill>
                  <a:srgbClr val="C13A31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Evaluation note: failure-mode flags can create leakage if they are only known after a failure. Production retraining should use genuinely pre-failure signals.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A Live-Style Streamlit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application brings model results, fleet health, process trends and AI support into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96596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9397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901952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Dashboard &amp; Digital Twin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304288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Fleet risk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8848" y="196596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09397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01952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ML Model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04288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Metrics + feature importance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73736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9397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901952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Process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304288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Trends + CSV upload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4612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347472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60273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410712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813048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Groq maintenance chat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24612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98848" y="347472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60273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410712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6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About &amp;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813048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Project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983480"/>
            <a:ext cx="3383280" cy="59436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138928"/>
            <a:ext cx="3017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BUILT WITH STREAMLIT + PLOTLY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Digital Twin: Fleet Health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dashboard demonstrates a 10-machine fleet with model-driven risk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M-01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7" y="1874519"/>
            <a:ext cx="1005840" cy="310896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4207" y="1883663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HEALTHY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04288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221991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300" b="1" i="0">
                <a:solidFill>
                  <a:srgbClr val="26896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633472"/>
            <a:ext cx="2971800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2633472"/>
            <a:ext cx="534924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73736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901952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M-02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874519"/>
            <a:ext cx="1005840" cy="310896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883663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04288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221991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300" b="1" i="0">
                <a:solidFill>
                  <a:srgbClr val="F1A53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54%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633472"/>
            <a:ext cx="2971800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2633472"/>
            <a:ext cx="1604772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8431" y="173736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1901952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M-03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1" y="1874519"/>
            <a:ext cx="1005840" cy="310896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1" y="1883663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1" y="2304288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1592" y="2221991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300" b="1" i="0">
                <a:solidFill>
                  <a:srgbClr val="C13A31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86%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1" y="2633472"/>
            <a:ext cx="2971800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11311" y="2633472"/>
            <a:ext cx="2555748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315468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319272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M-04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64207" y="3291840"/>
            <a:ext cx="1005840" cy="310896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64207" y="3300984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HEALTHY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3721608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36393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300" b="1" i="0">
                <a:solidFill>
                  <a:srgbClr val="26896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50791"/>
            <a:ext cx="2971800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4050791"/>
            <a:ext cx="356616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97680" y="315468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3319272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M-05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94960" y="3291840"/>
            <a:ext cx="1005840" cy="310896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3300984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721608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6393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300" b="1" i="0">
                <a:solidFill>
                  <a:srgbClr val="F1A53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41%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4050791"/>
            <a:ext cx="2971800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80560" y="4050791"/>
            <a:ext cx="1218438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28431" y="3154680"/>
            <a:ext cx="3401568" cy="1143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11" y="3319272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M-06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25711" y="3291840"/>
            <a:ext cx="1005840" cy="310896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5711" y="3300984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HEALTHY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1" y="3721608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1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51592" y="36393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300" b="1" i="0">
                <a:solidFill>
                  <a:srgbClr val="26896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11311" y="4050791"/>
            <a:ext cx="2971800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11311" y="4050791"/>
            <a:ext cx="267462" cy="73152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057400" y="5074920"/>
            <a:ext cx="8046720" cy="59436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31720" y="523036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4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STATUS LOGIC:  HEALTHY  &lt; 30%   •   WARNING  30–70%   •   CRITICAL  ≥ 70%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PROCESS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Process Intelligence: Turning Readings into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dashboard provides trend analysis, failure-type breakdowns and CSV-based investigation.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6720840" cy="34290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2743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SENSOR TREND VIEW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4617720"/>
            <a:ext cx="5897880" cy="0"/>
          </a:xfrm>
          <a:prstGeom prst="line">
            <a:avLst/>
          </a:prstGeom>
          <a:ln w="1397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" y="2423160"/>
            <a:ext cx="0" cy="2194560"/>
          </a:xfrm>
          <a:prstGeom prst="line">
            <a:avLst/>
          </a:prstGeom>
          <a:ln w="1397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88720" y="3813048"/>
            <a:ext cx="621792" cy="393192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10512" y="3419856"/>
            <a:ext cx="621792" cy="393192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32304" y="3419856"/>
            <a:ext cx="621792" cy="292607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054096" y="3319272"/>
            <a:ext cx="621792" cy="393191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675888" y="2926079"/>
            <a:ext cx="621792" cy="393193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97680" y="2926079"/>
            <a:ext cx="621792" cy="292608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919472" y="2825496"/>
            <a:ext cx="621792" cy="393191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41264" y="2825496"/>
            <a:ext cx="621792" cy="1252728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88720" y="3493007"/>
            <a:ext cx="621792" cy="393193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10512" y="3099815"/>
            <a:ext cx="621792" cy="393192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32304" y="3099815"/>
            <a:ext cx="621792" cy="292608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054096" y="2999232"/>
            <a:ext cx="621792" cy="393191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675888" y="2606039"/>
            <a:ext cx="621792" cy="393193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97680" y="2606039"/>
            <a:ext cx="621792" cy="292608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19472" y="2898647"/>
            <a:ext cx="621792" cy="1252729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41264" y="3758183"/>
            <a:ext cx="621792" cy="393193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88720" y="3172968"/>
            <a:ext cx="621792" cy="393191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10512" y="2779775"/>
            <a:ext cx="621792" cy="393193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32304" y="2779775"/>
            <a:ext cx="621792" cy="292608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54096" y="2679191"/>
            <a:ext cx="621792" cy="393192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75888" y="2679191"/>
            <a:ext cx="621792" cy="1252729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297680" y="2578607"/>
            <a:ext cx="621792" cy="1353313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19472" y="2578607"/>
            <a:ext cx="621792" cy="1252728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541264" y="3438144"/>
            <a:ext cx="621792" cy="393191"/>
          </a:xfrm>
          <a:prstGeom prst="line">
            <a:avLst/>
          </a:prstGeom>
          <a:ln w="22860">
            <a:solidFill>
              <a:srgbClr val="4C3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51560" y="4800600"/>
            <a:ext cx="5577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8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temperature     torque     rotational speed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1737360"/>
            <a:ext cx="3931920" cy="15544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2011680"/>
            <a:ext cx="3383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FAILURE-TYPE 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242316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TWF  •  HDF  •  PWF</a:t>
            </a:r>
            <a:br/>
            <a:r>
              <a:rPr>
                <a:solidFill>
                  <a:srgbClr val="FFFFFF"/>
                </a:solidFill>
              </a:rPr>
              <a:t>OSF  •  RNF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3520440"/>
            <a:ext cx="3931920" cy="16459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3767328"/>
            <a:ext cx="3383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CSV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4160520"/>
            <a:ext cx="3246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Upload data → inspect columns → visualize trends → support investigation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AI Maintenance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Groq-powered assistant gives operators a natural-language way to ask about the fleet.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6995160" cy="40690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212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GROQ • LLAMA 3.3 70B VERSATILE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50592"/>
            <a:ext cx="4937760" cy="530352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96896"/>
            <a:ext cx="4480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Which machine needs attention right now?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91840"/>
            <a:ext cx="5897880" cy="91440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47288"/>
            <a:ext cx="5440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1" i="0">
                <a:solidFill>
                  <a:srgbClr val="DAE2E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Prioritize the highest-risk machine, then inspect its operating conditions and recent trends before maintenance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590288"/>
            <a:ext cx="5989320" cy="50292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36592"/>
            <a:ext cx="5394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80" b="0" i="0">
                <a:solidFill>
                  <a:srgbClr val="8C9EA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Ask about machine health, risk or maintenance advice…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691640"/>
            <a:ext cx="3657600" cy="406908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965960"/>
            <a:ext cx="3108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242316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55117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404872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FLEET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651760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Current dashboard state</a:t>
            </a:r>
          </a:p>
        </p:txBody>
      </p:sp>
      <p:sp>
        <p:nvSpPr>
          <p:cNvPr id="21" name="Oval 20"/>
          <p:cNvSpPr/>
          <p:nvPr/>
        </p:nvSpPr>
        <p:spPr>
          <a:xfrm>
            <a:off x="8183879" y="3136391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264408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118103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USER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364991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Natural-language question</a:t>
            </a:r>
          </a:p>
        </p:txBody>
      </p:sp>
      <p:sp>
        <p:nvSpPr>
          <p:cNvPr id="25" name="Oval 24"/>
          <p:cNvSpPr/>
          <p:nvPr/>
        </p:nvSpPr>
        <p:spPr>
          <a:xfrm>
            <a:off x="8183879" y="3849624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977639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831336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GROQ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078224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LLM response generation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8183879" y="456285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6908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544568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70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GUIDANCE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791456"/>
            <a:ext cx="2331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Maintenance-oriented answer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212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12829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TECHNOLOGY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7A898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191D1F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Technology Stack, Security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implementation combines Python analytics, Streamlit, ML artifacts and secure API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401568" cy="786384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938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73936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05740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9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Core application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64208"/>
            <a:ext cx="3401568" cy="786384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180136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2938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73936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pandas + 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5740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9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Data prep +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664208"/>
            <a:ext cx="3401568" cy="786384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11311" y="1801368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1929384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773936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2057400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9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688336"/>
            <a:ext cx="3401568" cy="786384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282549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95351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2798064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Streamlit + Plotly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081528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9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Dashboard + 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2688336"/>
            <a:ext cx="3401568" cy="786384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80560" y="282549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95351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798064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Groq / Llama 3.3 70B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081528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9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 assistant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1" y="2688336"/>
            <a:ext cx="3401568" cy="786384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11311" y="2825496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1" y="295351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2798064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19" b="1" i="0">
                <a:solidFill>
                  <a:srgbClr val="191D1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joblib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3081528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90" b="0" i="0">
                <a:solidFill>
                  <a:srgbClr val="5B686E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Model persistence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160520"/>
            <a:ext cx="10972800" cy="12344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07408"/>
            <a:ext cx="1828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SECURITY 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389120"/>
            <a:ext cx="8138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19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Authenticated access • bcrypt password hashing • session state • GROQ_API_KEY stored in .env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 i="0">
                <a:solidFill>
                  <a:srgbClr val="91A0A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5029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650" b="0" i="0">
                <a:solidFill>
                  <a:srgbClr val="8B9BA1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AI-DRIVEN PREDICTIVE MAINTENANCE &amp; PROCESS INTELLIGENCE</a:t>
            </a:r>
          </a:p>
        </p:txBody>
      </p:sp>
      <p:sp>
        <p:nvSpPr>
          <p:cNvPr id="5" name="Oval 4"/>
          <p:cNvSpPr/>
          <p:nvPr/>
        </p:nvSpPr>
        <p:spPr>
          <a:xfrm>
            <a:off x="-1051560" y="-1005840"/>
            <a:ext cx="3840480" cy="384048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0" y="4754880"/>
            <a:ext cx="2560320" cy="25603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 i="0">
                <a:solidFill>
                  <a:srgbClr val="F8F8F5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From Prediction to Maintenance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 i="0">
                <a:solidFill>
                  <a:srgbClr val="C6D3D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project demonstrates how machine learning, interactive analytics and generative AI can work together in a smart-manufacturing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1965960" cy="1005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8448" y="228600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41401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Predict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148840"/>
            <a:ext cx="1965960" cy="1005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60" y="228600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41401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788920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Understand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2148840"/>
            <a:ext cx="1965960" cy="1005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33872" y="228600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241401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788920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See fleet 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0063" y="2148840"/>
            <a:ext cx="1965960" cy="1005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3" y="228600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3" y="241401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3" y="2788920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Support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7776" y="2148840"/>
            <a:ext cx="1965960" cy="100584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69296" y="2286000"/>
            <a:ext cx="502920" cy="502920"/>
          </a:xfrm>
          <a:prstGeom prst="ellipse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241401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2788920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Protect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84448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NEXT STEP FOR PRODUCTION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931920"/>
            <a:ext cx="10972800" cy="822960"/>
          </a:xfrm>
          <a:prstGeom prst="round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133087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 i="0">
                <a:solidFill>
                  <a:srgbClr val="F8F8F5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Retrain with only pre-failure signals • validate on real telemetry • connect maintenance work orders • harden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13892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 i="0">
                <a:solidFill>
                  <a:srgbClr val="F8F8F5"/>
                </a:solidFill>
                <a:latin typeface="Georgia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29C7C2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Questions &amp; Discussion Welcome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53328"/>
            <a:ext cx="10881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30" b="0" i="0">
                <a:solidFill>
                  <a:srgbClr val="93A4AA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Thamma Pavani • Natakarini Nirupa • Neelima Kesanakurthi • Nagaroopini D • Priyanka H C • Mahesh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0E0A14"/>
          </a:solidFill>
          <a:ln>
            <a:solidFill>
              <a:srgbClr val="4C3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rgbClr val="7E4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30000"/>
          </a:xfrm>
          <a:prstGeom prst="rect">
            <a:avLst/>
          </a:prstGeom>
          <a:solidFill>
            <a:srgbClr val="7E3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