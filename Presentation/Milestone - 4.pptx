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24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roundRect">
            <a:avLst>
              <a:gd name="adj" fmla="val 19048"/>
            </a:avLst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D4AF37"/>
                </a:solidFill>
              </a:rPr>
              <a:t>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91640" y="5669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F37"/>
                </a:solidFill>
              </a:rPr>
              <a:t>INFOSYS SPRINGBOARD VIRTUAL INTERNSHIP 7.0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86868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Industrial Maintenance and Process Optimization For Smart Manufacturing 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TEAM MEMBERS &amp; ROLES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" y="2487168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743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</a:rPr>
              <a:t>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895009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Mahesh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2514600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44568" y="2743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</a:rPr>
              <a:t>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07508" y="2895009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Nagaroopini 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44568" y="33558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83296" y="2514600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2743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</a:rPr>
              <a:t>NN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74836" y="299466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Natakarani Nirupa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311896" y="33558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343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</a:rPr>
              <a:t>NK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4530852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Neelima Kesanak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77240" y="49560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15968" y="4114800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44568" y="4343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4568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</a:rPr>
              <a:t>PH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88529" y="4530852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Priyanka H C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544568" y="49560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83296" y="4137660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11896" y="4343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</a:rPr>
              <a:t>TP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51976" y="4590288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Thamma Pavani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311896" y="49560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What Is Predictive Maintenance?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4AF37"/>
                </a:solidFill>
              </a:rPr>
              <a:t>Predictive</a:t>
            </a:r>
            <a:r>
              <a:rPr lang="en-US" sz="1300" dirty="0">
                <a:solidFill>
                  <a:srgbClr val="9CA3C4"/>
                </a:solidFill>
              </a:rPr>
              <a:t> — predicts a problem before it happens.
</a:t>
            </a:r>
            <a:r>
              <a:rPr lang="en-US" sz="1300" b="1" dirty="0">
                <a:solidFill>
                  <a:srgbClr val="D4AF37"/>
                </a:solidFill>
              </a:rPr>
              <a:t>Maintenance</a:t>
            </a:r>
            <a:r>
              <a:rPr lang="en-US" sz="1300" dirty="0">
                <a:solidFill>
                  <a:srgbClr val="9CA3C4"/>
                </a:solidFill>
              </a:rPr>
              <a:t> — repairing or servicing a machine.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8288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F8FAFC"/>
                </a:solidFill>
              </a:rPr>
              <a:t>An AI-based technique that predicts machine failures from live sensor readings — before a breakdown occurs.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91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⚠  The Problem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675888"/>
            <a:ext cx="48463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Unexpected machine failures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Production delays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High maintenance cost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Loss of revenue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3108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</a:rPr>
              <a:t>✅  Our Solution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3675888"/>
            <a:ext cx="48463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Monitor machine health continuously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Predict failures early from sensor data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Surface risk with clear alerts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Reduce downtime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</a:rPr>
              <a:t>Without AI:  </a:t>
            </a:r>
            <a:r>
              <a:rPr lang="en-US" sz="1250" dirty="0">
                <a:solidFill>
                  <a:srgbClr val="9CA3C4"/>
                </a:solidFill>
              </a:rPr>
              <a:t>a machine suddenly stops mid-production.   </a:t>
            </a:r>
            <a:r>
              <a:rPr lang="en-US" sz="1250" b="1" dirty="0">
                <a:solidFill>
                  <a:srgbClr val="D4AF37"/>
                </a:solidFill>
              </a:rPr>
              <a:t>With AI:  </a:t>
            </a:r>
            <a:r>
              <a:rPr lang="en-US" sz="1250" dirty="0">
                <a:solidFill>
                  <a:srgbClr val="9CA3C4"/>
                </a:solidFill>
              </a:rPr>
              <a:t>the system detects rising torque and tool wear, and flags the machine before it fails.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From Sensor Reading to Dashboard Alert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3C4"/>
                </a:solidFill>
              </a:rPr>
              <a:t>In our implementation, sensor readings are drawn from the AI4I 2020 industrial dataset — each reading simulates a live IoT sensor stream from a manufacturing machine, the same way a real deployed sensor network would feed data 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0632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Sensor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Reading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14600" y="306324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37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30632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Preprocessing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&amp; Scaling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00600" y="306324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37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2064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30632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ML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Model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86600" y="306324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3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0664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30632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Streamlit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Dashboard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72600" y="306324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37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92640" y="30632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92640" y="30632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AI Assistant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&amp; Alerts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Sensor features used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4AF37"/>
                </a:solidFill>
              </a:rPr>
              <a:t>Machine Type (L/M/H)  •  Air Temperature  •  Process Temperature  •  Rotational Speed  •  Torque  •  Tool Wear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AI4I 2020 Predictive Maintenance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47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</a:rPr>
              <a:t>10,000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3C4"/>
                </a:solidFill>
              </a:rPr>
              <a:t>Sensor readings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847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</a:rPr>
              <a:t>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29000" y="24505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3C4"/>
                </a:solidFill>
              </a:rPr>
              <a:t>Original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847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</a:rPr>
              <a:t>3.4%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4505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3C4"/>
                </a:solidFill>
              </a:rPr>
              <a:t>Failure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7373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1847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89720" y="24505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3C4"/>
                </a:solidFill>
              </a:rPr>
              <a:t>Missing values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337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Data Cleaning &amp; Preprocessing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3721608"/>
            <a:ext cx="4846320" cy="1947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Dropped ID columns (no predictive value)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Encoded machine Type as L=0 / M=1 / H=2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Standard-scaled every numeric feature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80/20 train-test split (random_state=42)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15468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3337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Example pattern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37960" y="37947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CA3C4"/>
                </a:solidFill>
              </a:rPr>
              <a:t>High Torque + High Tool Wear → elevated failure risk.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CA3C4"/>
                </a:solidFill>
              </a:rPr>
              <a:t>The model learns this kind of relationship directly from thousands of past readings, instead of anyone hand-coding a threshold rule.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Teaching a Model to Recognize Failure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A3C4"/>
                </a:solidFill>
              </a:rPr>
              <a:t>Machine Learning is a branch of AI that learns from past data and predicts future outcomes: past failures → the model learns the pattern → it predicts the next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Algorithms compared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C4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C4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C4"/>
                </a:solidFill>
              </a:rPr>
              <a:t>XGBoost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CA3C4"/>
                </a:solidFill>
              </a:rPr>
              <a:t>Our training script fits all three and automatically keeps whichever scores the highest test accuracy — no manual tuning needed.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88036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Why this approach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</a:rPr>
              <a:t>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5204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C4"/>
                </a:solidFill>
              </a:rPr>
              <a:t>Fast to train and to run predictions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41422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</a:rPr>
              <a:t>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41422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C4"/>
                </a:solidFill>
              </a:rPr>
              <a:t>Handles tabular sensor data well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47640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</a:rPr>
              <a:t>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47640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C4"/>
                </a:solidFill>
              </a:rPr>
              <a:t>No manual model-picking bias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53858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</a:rPr>
              <a:t>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538581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C4"/>
                </a:solidFill>
              </a:rPr>
              <a:t>Well-suited to industrial datasets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PREDICTIVE MAINTENANCE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Machine Status,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C1730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C4"/>
                </a:solidFill>
              </a:rPr>
              <a:t>M105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1947672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</a:rPr>
              <a:t>HEALTHY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F37"/>
                </a:solidFill>
              </a:rPr>
              <a:t>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C4"/>
                </a:solidFill>
              </a:rPr>
              <a:t>Predicted Failure Risk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3108960" cy="109728"/>
          </a:xfrm>
          <a:prstGeom prst="roundRect">
            <a:avLst>
              <a:gd name="adj" fmla="val 50000"/>
            </a:avLst>
          </a:prstGeom>
          <a:solidFill>
            <a:srgbClr val="2E274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566160"/>
            <a:ext cx="248717" cy="10972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No action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C173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C4"/>
                </a:solidFill>
              </a:rPr>
              <a:t>M203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1947672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WARNING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</a:rPr>
              <a:t>63%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C4"/>
                </a:solidFill>
              </a:rPr>
              <a:t>Predicted Failure Risk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3566160"/>
            <a:ext cx="3108960" cy="109728"/>
          </a:xfrm>
          <a:prstGeom prst="roundRect">
            <a:avLst>
              <a:gd name="adj" fmla="val 50000"/>
            </a:avLst>
          </a:prstGeom>
          <a:solidFill>
            <a:srgbClr val="2E274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6280" y="3566160"/>
            <a:ext cx="1958645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Schedule inspection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C173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532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C4"/>
                </a:solidFill>
              </a:rPr>
              <a:t>M310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95560" y="1947672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9556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CRITICAL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</a:rPr>
              <a:t>97%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27532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C4"/>
                </a:solidFill>
              </a:rPr>
              <a:t>Predicted Failure Risk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75320" y="3566160"/>
            <a:ext cx="3108960" cy="109728"/>
          </a:xfrm>
          <a:prstGeom prst="roundRect">
            <a:avLst>
              <a:gd name="adj" fmla="val 50000"/>
            </a:avLst>
          </a:prstGeom>
          <a:solidFill>
            <a:srgbClr val="2E2748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566160"/>
            <a:ext cx="3015691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Stop machine — replace bearing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Walkthrough example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2960" y="50292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CA3C4"/>
                </a:solidFill>
              </a:rPr>
              <a:t>Torque and tool wear climb steadily over several readings → the model's predicted failure risk rises with them → once risk crosses 70%, our dashboard fires a CRITICAL alert automatically → the maintenance team inspects and repairs the machine before it actually breaks down → production continues without an unplanned stoppage.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 Live, Interactive Streamlit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9280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7512" y="256032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Dashboard &amp; Digital Twin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C4"/>
                </a:solidFill>
              </a:rPr>
              <a:t>Live fleet as color-coded risk cards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98064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98064" y="189280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16936" y="256032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ML Model Performance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35224" y="32004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C4"/>
                </a:solidFill>
              </a:rPr>
              <a:t>Dataset stats &amp; feature importance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47488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47488" y="189280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66360" y="256032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Process Intelligence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84648" y="32004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C4"/>
                </a:solidFill>
              </a:rPr>
              <a:t>Sensor trends + CSV upload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96912" y="189280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15784" y="256032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AI Assistant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34072" y="32004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C4"/>
                </a:solidFill>
              </a:rPr>
              <a:t>Groq-powered chat on live fleet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46336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46336" y="189280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65208" y="256032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</a:rPr>
              <a:t>About &amp; Team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83496" y="320040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C4"/>
                </a:solidFill>
              </a:rPr>
              <a:t>Problem, solution, how it works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754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Built using Streamlit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C4"/>
                </a:solidFill>
              </a:rPr>
              <a:t>A Python framework for building interactive data dashboards quickly, without writing separate frontend code.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45720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37960" y="4754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New: AI Maintenance Assistant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5120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C4"/>
                </a:solidFill>
              </a:rPr>
              <a:t>Powered by Groq (Llama 3.3 70B) — operators can ask plain-language questions and get answers grounded in the live fleet state.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Secured Employee Access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A3C4"/>
                </a:solidFill>
              </a:rPr>
              <a:t>Before anyone sees a single machine reading, they must authenticate. Access is gated by a real login/sign-up system, not just a cosmetic screen.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🔑  Log 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C4"/>
                </a:solidFill>
              </a:rPr>
              <a:t>Username + password, checked against stored credentials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7880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C4"/>
                </a:solidFill>
              </a:rPr>
              <a:t>Passwords are never stored as plain 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8371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83717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C4"/>
                </a:solidFill>
              </a:rPr>
              <a:t>Session kept via a secure cookie, expires automatically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88036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📝  Sign 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3520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C4"/>
                </a:solidFill>
              </a:rPr>
              <a:t>Only pre-approved employee emails can self-register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417880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41788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C4"/>
                </a:solidFill>
              </a:rPr>
              <a:t>New passwords are bcrypt-hashed before saving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48371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483717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C4"/>
                </a:solidFill>
              </a:rPr>
              <a:t>Unauthorized emails are rejected automatically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Technologies &amp; Project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Technologies used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F8FAFC"/>
                </a:solidFill>
              </a:rPr>
              <a:t>Python</a:t>
            </a:r>
            <a:r>
              <a:rPr lang="en-US" sz="1250" dirty="0">
                <a:solidFill>
                  <a:srgbClr val="9CA3C4"/>
                </a:solidFill>
              </a:rPr>
              <a:t>  — core language
</a:t>
            </a:r>
            <a:r>
              <a:rPr lang="en-US" sz="1250" b="1" dirty="0">
                <a:solidFill>
                  <a:srgbClr val="F8FAFC"/>
                </a:solidFill>
              </a:rPr>
              <a:t>pandas / scikit-learn</a:t>
            </a:r>
            <a:r>
              <a:rPr lang="en-US" sz="1250" dirty="0">
                <a:solidFill>
                  <a:srgbClr val="9CA3C4"/>
                </a:solidFill>
              </a:rPr>
              <a:t>  — data &amp; ML
</a:t>
            </a:r>
            <a:r>
              <a:rPr lang="en-US" sz="1250" b="1" dirty="0">
                <a:solidFill>
                  <a:srgbClr val="F8FAFC"/>
                </a:solidFill>
              </a:rPr>
              <a:t>XGBoost</a:t>
            </a:r>
            <a:r>
              <a:rPr lang="en-US" sz="1250" dirty="0">
                <a:solidFill>
                  <a:srgbClr val="9CA3C4"/>
                </a:solidFill>
              </a:rPr>
              <a:t>  — gradient-boosted model
</a:t>
            </a:r>
            <a:r>
              <a:rPr lang="en-US" sz="1250" b="1" dirty="0">
                <a:solidFill>
                  <a:srgbClr val="F8FAFC"/>
                </a:solidFill>
              </a:rPr>
              <a:t>Streamlit + Plotly</a:t>
            </a:r>
            <a:r>
              <a:rPr lang="en-US" sz="1250" dirty="0">
                <a:solidFill>
                  <a:srgbClr val="9CA3C4"/>
                </a:solidFill>
              </a:rPr>
              <a:t>  — dashboard &amp; charts
</a:t>
            </a:r>
            <a:r>
              <a:rPr lang="en-US" sz="1250" b="1" dirty="0">
                <a:solidFill>
                  <a:srgbClr val="F8FAFC"/>
                </a:solidFill>
              </a:rPr>
              <a:t>Groq (Llama 3.3 70B)</a:t>
            </a:r>
            <a:r>
              <a:rPr lang="en-US" sz="1250" dirty="0">
                <a:solidFill>
                  <a:srgbClr val="9CA3C4"/>
                </a:solidFill>
              </a:rPr>
              <a:t>  — AI assistant
</a:t>
            </a:r>
            <a:r>
              <a:rPr lang="en-US" sz="1250" b="1" dirty="0">
                <a:solidFill>
                  <a:srgbClr val="F8FAFC"/>
                </a:solidFill>
              </a:rPr>
              <a:t>streamlit-authenticator</a:t>
            </a:r>
            <a:r>
              <a:rPr lang="en-US" sz="1250" dirty="0">
                <a:solidFill>
                  <a:srgbClr val="9CA3C4"/>
                </a:solidFill>
              </a:rPr>
              <a:t>  — secured login &amp; sign-up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</a:rPr>
              <a:t>Project benefits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37960" y="2258568"/>
            <a:ext cx="484632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Predict failures early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Reduce maintenance cost &amp; downtime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Increase production continuity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Improve machine lifespan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Better, data-driven decisions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CA3C4"/>
                </a:solidFill>
              </a:rPr>
              <a:t>Access restricted to verified employees only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8-Week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F37"/>
                </a:solidFill>
              </a:rPr>
              <a:t>Wk 1–2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315468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Data Collection &amp; Exploration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C4"/>
                </a:solidFill>
              </a:rPr>
              <a:t>Sourced the AI4I 2020 dataset, ran EDA, checked distributions and failure rate.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27248" y="36576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37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F37"/>
                </a:solidFill>
              </a:rPr>
              <a:t>Wk 3–5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7872" y="315468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Model Training &amp; Testing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4023360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C4"/>
                </a:solidFill>
              </a:rPr>
              <a:t>Preprocessed data, trained and compared Logistic Regression, Random Forest, and XGBoost.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61888" y="36576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37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F37"/>
                </a:solidFill>
              </a:rPr>
              <a:t>Wk 6–7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82512" y="315468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Dashboard &amp; AI Assistant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023360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C4"/>
                </a:solidFill>
              </a:rPr>
              <a:t>Built the Streamlit dashboard, added the Groq AI assistant and secured login system.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96528" y="36576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37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52560" y="192024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5256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05256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F37"/>
                </a:solidFill>
              </a:rPr>
              <a:t>Wk 8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17152" y="3154680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Testing, Docs &amp; Presentation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4023360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C4"/>
                </a:solidFill>
              </a:rPr>
              <a:t>End-to-end testing, documentation, and final presentation preparation.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</a:rPr>
              <a:t>HONEST 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Challenges &amp;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</a:rPr>
              <a:t>Data leakage in the dataset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CA3C4"/>
                </a:solidFill>
              </a:rPr>
              <a:t>The failure-mode flag columns (TWF, HDF, PWF, OSF, RNF) are only known after a failure — training on them inflates accuracy without real predictive value. We deploy with those flags fixed at zero.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</a:rPr>
              <a:t>Environment &amp; dependency conflicts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CA3C4"/>
                </a:solidFill>
              </a:rPr>
              <a:t>A Streamlit/Starlette version mismatch broke the app on startup; resolved by pinning Starlette to a compatible version.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</a:rPr>
              <a:t>Keeping scaling consistent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CA3C4"/>
                </a:solidFill>
              </a:rPr>
              <a:t>The saved StandardScaler must be applied identically at inference time as it was during training, including feature order — easy to get subtly wrong.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C1730"/>
          </a:solidFill>
          <a:ln w="12700">
            <a:solidFill>
              <a:srgbClr val="2E274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</a:rPr>
              <a:t>Balancing security with usability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CA3C4"/>
                </a:solidFill>
              </a:rPr>
              <a:t>Adding login/sign-up meant careful UI work so the dark theme and readability carried through to the auth screens too, not just the dashboard.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6048" y="1188720"/>
            <a:ext cx="2286000" cy="2286000"/>
          </a:xfrm>
          <a:prstGeom prst="roundRect">
            <a:avLst>
              <a:gd name="adj" fmla="val 12000"/>
            </a:avLst>
          </a:prstGeom>
          <a:solidFill>
            <a:srgbClr val="D4AF37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56048" y="11887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✅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0" y="37033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FAFC"/>
                </a:solidFill>
              </a:rPr>
              <a:t>Thank You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44348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C4"/>
                </a:solidFill>
              </a:rPr>
              <a:t>AI-Driven Predictive Maintenance &amp; Process Intelligence — Infosys Springboard Virtual Internship 7.0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5257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</a:rPr>
              <a:t>Questions &amp; Discussion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75569"/>
                </a:solidFill>
              </a:rPr>
              <a:t>INFOSYS SPRINGBOARD 7.0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C4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1094</Words>
  <Application>Microsoft Office PowerPoint</Application>
  <PresentationFormat>Widescreen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Dhanush H C</cp:lastModifiedBy>
  <cp:revision>3</cp:revision>
  <dcterms:created xsi:type="dcterms:W3CDTF">2026-08-13T06:24:08Z</dcterms:created>
  <dcterms:modified xsi:type="dcterms:W3CDTF">2026-08-21T14:33:20Z</dcterms:modified>
</cp:coreProperties>
</file>